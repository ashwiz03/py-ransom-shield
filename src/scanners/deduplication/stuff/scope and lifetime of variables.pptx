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1" r:id="rId6"/>
    <p:sldId id="262" r:id="rId7"/>
    <p:sldId id="258"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87" d="100"/>
          <a:sy n="87" d="100"/>
        </p:scale>
        <p:origin x="52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DFB0ED-C73F-4870-BBFE-F10648211C72}" type="datetimeFigureOut">
              <a:rPr lang="en-IN" smtClean="0"/>
              <a:t>03-07-2024</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0B0A3DCA-D897-4E63-9EEB-F818A5F483BB}"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72878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FB0ED-C73F-4870-BBFE-F10648211C72}" type="datetimeFigureOut">
              <a:rPr lang="en-IN" smtClean="0"/>
              <a:t>03-07-2024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A3DCA-D897-4E63-9EEB-F818A5F483BB}"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47313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DFB0ED-C73F-4870-BBFE-F10648211C72}" type="datetimeFigureOut">
              <a:rPr lang="en-IN" smtClean="0"/>
              <a:t>03-07-2024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A3DCA-D897-4E63-9EEB-F818A5F483BB}"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51900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DFB0ED-C73F-4870-BBFE-F10648211C72}" type="datetimeFigureOut">
              <a:rPr lang="en-IN" smtClean="0"/>
              <a:t>03-07-2024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0A3DCA-D897-4E63-9EEB-F818A5F483BB}"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21346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DFB0ED-C73F-4870-BBFE-F10648211C72}" type="datetimeFigureOut">
              <a:rPr lang="en-IN" smtClean="0"/>
              <a:t>03-07-2024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B0A3DCA-D897-4E63-9EEB-F818A5F483BB}"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817185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1DFB0ED-C73F-4870-BBFE-F10648211C72}" type="datetimeFigureOut">
              <a:rPr lang="en-IN" smtClean="0"/>
              <a:t>03-07-2024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B0A3DCA-D897-4E63-9EEB-F818A5F483BB}"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4705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DFB0ED-C73F-4870-BBFE-F10648211C72}" type="datetimeFigureOut">
              <a:rPr lang="en-IN" smtClean="0"/>
              <a:t>03-07-2024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B0A3DCA-D897-4E63-9EEB-F818A5F483BB}" type="slidenum">
              <a:rPr lang="en-IN" smtClean="0"/>
              <a:t>‹#›</a:t>
            </a:fld>
            <a:endParaRPr lang="en-IN"/>
          </a:p>
        </p:txBody>
      </p:sp>
    </p:spTree>
    <p:extLst>
      <p:ext uri="{BB962C8B-B14F-4D97-AF65-F5344CB8AC3E}">
        <p14:creationId xmlns:p14="http://schemas.microsoft.com/office/powerpoint/2010/main" val="16331806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DFB0ED-C73F-4870-BBFE-F10648211C72}" type="datetimeFigureOut">
              <a:rPr lang="en-IN" smtClean="0"/>
              <a:t>03-07-2024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0A3DCA-D897-4E63-9EEB-F818A5F483BB}"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4448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1DFB0ED-C73F-4870-BBFE-F10648211C72}" type="datetimeFigureOut">
              <a:rPr lang="en-IN" smtClean="0"/>
              <a:t>03-07-2024</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0B0A3DCA-D897-4E63-9EEB-F818A5F483BB}"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288838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FB0ED-C73F-4870-BBFE-F10648211C72}" type="datetimeFigureOut">
              <a:rPr lang="en-IN" smtClean="0"/>
              <a:t>03-07-2024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A3DCA-D897-4E63-9EEB-F818A5F483BB}"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87367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DFB0ED-C73F-4870-BBFE-F10648211C72}" type="datetimeFigureOut">
              <a:rPr lang="en-IN" smtClean="0"/>
              <a:t>03-07-2024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0A3DCA-D897-4E63-9EEB-F818A5F483BB}"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35917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1DFB0ED-C73F-4870-BBFE-F10648211C72}" type="datetimeFigureOut">
              <a:rPr lang="en-IN" smtClean="0"/>
              <a:t>03-07-2024</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0B0A3DCA-D897-4E63-9EEB-F818A5F483BB}"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29570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7FE63-A8B9-C5BD-91E0-D0D893E73313}"/>
              </a:ext>
            </a:extLst>
          </p:cNvPr>
          <p:cNvSpPr>
            <a:spLocks noGrp="1"/>
          </p:cNvSpPr>
          <p:nvPr>
            <p:ph type="ctrTitle"/>
          </p:nvPr>
        </p:nvSpPr>
        <p:spPr/>
        <p:txBody>
          <a:bodyPr>
            <a:normAutofit/>
          </a:bodyPr>
          <a:lstStyle/>
          <a:p>
            <a:r>
              <a:rPr lang="en-US" dirty="0"/>
              <a:t>scope and lifetime of variables</a:t>
            </a:r>
            <a:endParaRPr lang="en-IN" dirty="0"/>
          </a:p>
        </p:txBody>
      </p:sp>
    </p:spTree>
    <p:extLst>
      <p:ext uri="{BB962C8B-B14F-4D97-AF65-F5344CB8AC3E}">
        <p14:creationId xmlns:p14="http://schemas.microsoft.com/office/powerpoint/2010/main" val="3228901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F96D5-335A-BF7C-125D-7816E425E3BB}"/>
              </a:ext>
            </a:extLst>
          </p:cNvPr>
          <p:cNvSpPr>
            <a:spLocks noGrp="1"/>
          </p:cNvSpPr>
          <p:nvPr>
            <p:ph type="title"/>
          </p:nvPr>
        </p:nvSpPr>
        <p:spPr/>
        <p:txBody>
          <a:bodyPr>
            <a:normAutofit/>
          </a:bodyPr>
          <a:lstStyle/>
          <a:p>
            <a:r>
              <a:rPr lang="en-IN" sz="4000" dirty="0"/>
              <a:t>GLOBAL SCOPE</a:t>
            </a:r>
          </a:p>
        </p:txBody>
      </p:sp>
      <p:sp>
        <p:nvSpPr>
          <p:cNvPr id="3" name="Content Placeholder 2">
            <a:extLst>
              <a:ext uri="{FF2B5EF4-FFF2-40B4-BE49-F238E27FC236}">
                <a16:creationId xmlns:a16="http://schemas.microsoft.com/office/drawing/2014/main" id="{824BB9AE-7BAE-88A0-AE24-B95160569292}"/>
              </a:ext>
            </a:extLst>
          </p:cNvPr>
          <p:cNvSpPr>
            <a:spLocks noGrp="1"/>
          </p:cNvSpPr>
          <p:nvPr>
            <p:ph idx="1"/>
          </p:nvPr>
        </p:nvSpPr>
        <p:spPr/>
        <p:txBody>
          <a:bodyPr>
            <a:noAutofit/>
          </a:bodyPr>
          <a:lstStyle/>
          <a:p>
            <a:r>
              <a:rPr lang="en-US" sz="2400" dirty="0"/>
              <a:t>Definition: Variables declared outside of any function or block are said to have global scope. </a:t>
            </a:r>
          </a:p>
          <a:p>
            <a:r>
              <a:rPr lang="en-US" sz="2400" dirty="0"/>
              <a:t>Accessibility: Global variables can be accessed from anywhere in the program without needing an explicit qualifier. </a:t>
            </a:r>
          </a:p>
          <a:p>
            <a:r>
              <a:rPr lang="en-US" sz="2400" dirty="0"/>
              <a:t>Memory allocation: Global variables are typically stored in a data segment in memory and initialized before the `main()` function is called. </a:t>
            </a:r>
          </a:p>
          <a:p>
            <a:r>
              <a:rPr lang="en-US" sz="2400" dirty="0"/>
              <a:t>Examples: C, C++, Java all have support for global variables. </a:t>
            </a:r>
            <a:endParaRPr lang="en-IN" sz="2400" dirty="0"/>
          </a:p>
        </p:txBody>
      </p:sp>
    </p:spTree>
    <p:extLst>
      <p:ext uri="{BB962C8B-B14F-4D97-AF65-F5344CB8AC3E}">
        <p14:creationId xmlns:p14="http://schemas.microsoft.com/office/powerpoint/2010/main" val="696921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7022C-BEF2-658C-9526-80F702238D5B}"/>
              </a:ext>
            </a:extLst>
          </p:cNvPr>
          <p:cNvSpPr>
            <a:spLocks noGrp="1"/>
          </p:cNvSpPr>
          <p:nvPr>
            <p:ph type="title"/>
          </p:nvPr>
        </p:nvSpPr>
        <p:spPr/>
        <p:txBody>
          <a:bodyPr>
            <a:normAutofit/>
          </a:bodyPr>
          <a:lstStyle/>
          <a:p>
            <a:r>
              <a:rPr lang="en-IN" sz="4000" dirty="0"/>
              <a:t>Local Scope</a:t>
            </a:r>
          </a:p>
        </p:txBody>
      </p:sp>
      <p:sp>
        <p:nvSpPr>
          <p:cNvPr id="3" name="Content Placeholder 2">
            <a:extLst>
              <a:ext uri="{FF2B5EF4-FFF2-40B4-BE49-F238E27FC236}">
                <a16:creationId xmlns:a16="http://schemas.microsoft.com/office/drawing/2014/main" id="{91408CF2-4AD0-FD9A-DBAB-E1E1145C7655}"/>
              </a:ext>
            </a:extLst>
          </p:cNvPr>
          <p:cNvSpPr>
            <a:spLocks noGrp="1"/>
          </p:cNvSpPr>
          <p:nvPr>
            <p:ph idx="1"/>
          </p:nvPr>
        </p:nvSpPr>
        <p:spPr/>
        <p:txBody>
          <a:bodyPr>
            <a:noAutofit/>
          </a:bodyPr>
          <a:lstStyle/>
          <a:p>
            <a:r>
              <a:rPr lang="en-US" sz="2400" dirty="0"/>
              <a:t>Definition: Variables declared within a function or block (compound statement) are said to have local scope. </a:t>
            </a:r>
          </a:p>
          <a:p>
            <a:r>
              <a:rPr lang="en-US" sz="2400" dirty="0"/>
              <a:t>Accessibility: </a:t>
            </a:r>
            <a:r>
              <a:rPr lang="en-US" sz="2400"/>
              <a:t>Locchjgfchvdghvkefkvcefhhvgchvdghcveghdvjcyal</a:t>
            </a:r>
            <a:r>
              <a:rPr lang="en-US" sz="2400" dirty="0"/>
              <a:t> variables can only be accessed from within their defining function or block. </a:t>
            </a:r>
          </a:p>
          <a:p>
            <a:r>
              <a:rPr lang="en-US" sz="2400" dirty="0"/>
              <a:t>Memory allocation: Local variables are allocated in the stack memory when the function is called and deallocated when the function returns. </a:t>
            </a:r>
          </a:p>
          <a:p>
            <a:r>
              <a:rPr lang="en-US" sz="2400" dirty="0"/>
              <a:t>Examples: C, C++, Java all support local variables. </a:t>
            </a:r>
            <a:endParaRPr lang="en-IN" sz="2400" dirty="0"/>
          </a:p>
        </p:txBody>
      </p:sp>
    </p:spTree>
    <p:extLst>
      <p:ext uri="{BB962C8B-B14F-4D97-AF65-F5344CB8AC3E}">
        <p14:creationId xmlns:p14="http://schemas.microsoft.com/office/powerpoint/2010/main" val="115727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BFAC0-F0B3-F04F-FEB9-971766171422}"/>
              </a:ext>
            </a:extLst>
          </p:cNvPr>
          <p:cNvSpPr>
            <a:spLocks noGrp="1"/>
          </p:cNvSpPr>
          <p:nvPr>
            <p:ph type="title"/>
          </p:nvPr>
        </p:nvSpPr>
        <p:spPr/>
        <p:txBody>
          <a:bodyPr>
            <a:normAutofit/>
          </a:bodyPr>
          <a:lstStyle/>
          <a:p>
            <a:r>
              <a:rPr lang="en-IN" sz="4000" dirty="0"/>
              <a:t>Block Scope (Modern Compilers) </a:t>
            </a:r>
          </a:p>
        </p:txBody>
      </p:sp>
      <p:sp>
        <p:nvSpPr>
          <p:cNvPr id="3" name="Content Placeholder 2">
            <a:extLst>
              <a:ext uri="{FF2B5EF4-FFF2-40B4-BE49-F238E27FC236}">
                <a16:creationId xmlns:a16="http://schemas.microsoft.com/office/drawing/2014/main" id="{5D8E02AD-274D-0E94-442A-D9CA5D144D12}"/>
              </a:ext>
            </a:extLst>
          </p:cNvPr>
          <p:cNvSpPr>
            <a:spLocks noGrp="1"/>
          </p:cNvSpPr>
          <p:nvPr>
            <p:ph idx="1"/>
          </p:nvPr>
        </p:nvSpPr>
        <p:spPr>
          <a:xfrm>
            <a:off x="1294362" y="1853754"/>
            <a:ext cx="9603275" cy="3450613"/>
          </a:xfrm>
        </p:spPr>
        <p:txBody>
          <a:bodyPr>
            <a:noAutofit/>
          </a:bodyPr>
          <a:lstStyle/>
          <a:p>
            <a:r>
              <a:rPr lang="en-US" sz="2400" dirty="0"/>
              <a:t>Definition: Variables declared using keywords like `let`, `const` or `var` within curly braces in modern programming languages are said to have block scope. </a:t>
            </a:r>
          </a:p>
          <a:p>
            <a:r>
              <a:rPr lang="en-US" sz="2400" dirty="0"/>
              <a:t>Accessibility: These variables can only be accessed from the code inside their defining block, similar to local variables. </a:t>
            </a:r>
          </a:p>
          <a:p>
            <a:r>
              <a:rPr lang="en-US" sz="2400" dirty="0"/>
              <a:t>Memory allocation: Block scoped variables are typically allocated on the stack and deallocated when the block is exited. </a:t>
            </a:r>
          </a:p>
          <a:p>
            <a:r>
              <a:rPr lang="en-US" sz="2400" dirty="0"/>
              <a:t>Examples: JavaScript, Swift, Dart, C++11 (using `auto`, `const` or `static`), </a:t>
            </a:r>
            <a:r>
              <a:rPr lang="en-US" sz="2400" dirty="0" err="1"/>
              <a:t>etc</a:t>
            </a:r>
            <a:endParaRPr lang="en-IN" sz="2400" dirty="0"/>
          </a:p>
        </p:txBody>
      </p:sp>
    </p:spTree>
    <p:extLst>
      <p:ext uri="{BB962C8B-B14F-4D97-AF65-F5344CB8AC3E}">
        <p14:creationId xmlns:p14="http://schemas.microsoft.com/office/powerpoint/2010/main" val="3687582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FDDDC8-455D-FD65-662C-2357194375C5}"/>
              </a:ext>
            </a:extLst>
          </p:cNvPr>
          <p:cNvSpPr>
            <a:spLocks noGrp="1"/>
          </p:cNvSpPr>
          <p:nvPr>
            <p:ph idx="1"/>
          </p:nvPr>
        </p:nvSpPr>
        <p:spPr/>
        <p:txBody>
          <a:bodyPr>
            <a:normAutofit/>
          </a:bodyPr>
          <a:lstStyle/>
          <a:p>
            <a:pPr marL="0" indent="0">
              <a:buNone/>
            </a:pPr>
            <a:r>
              <a:rPr lang="en-US" sz="6000" dirty="0"/>
              <a:t> Lifetime Management: Static, Dynamic, and Block Lifetimes </a:t>
            </a:r>
            <a:endParaRPr lang="en-IN" sz="6000" dirty="0"/>
          </a:p>
        </p:txBody>
      </p:sp>
    </p:spTree>
    <p:extLst>
      <p:ext uri="{BB962C8B-B14F-4D97-AF65-F5344CB8AC3E}">
        <p14:creationId xmlns:p14="http://schemas.microsoft.com/office/powerpoint/2010/main" val="4216388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65DCC-66E2-1D55-12D8-3D33A5F58E63}"/>
              </a:ext>
            </a:extLst>
          </p:cNvPr>
          <p:cNvSpPr>
            <a:spLocks noGrp="1"/>
          </p:cNvSpPr>
          <p:nvPr>
            <p:ph type="title"/>
          </p:nvPr>
        </p:nvSpPr>
        <p:spPr/>
        <p:txBody>
          <a:bodyPr>
            <a:normAutofit/>
          </a:bodyPr>
          <a:lstStyle/>
          <a:p>
            <a:r>
              <a:rPr lang="en-IN" sz="4000" dirty="0"/>
              <a:t>Static Lifetime</a:t>
            </a:r>
          </a:p>
        </p:txBody>
      </p:sp>
      <p:sp>
        <p:nvSpPr>
          <p:cNvPr id="3" name="Content Placeholder 2">
            <a:extLst>
              <a:ext uri="{FF2B5EF4-FFF2-40B4-BE49-F238E27FC236}">
                <a16:creationId xmlns:a16="http://schemas.microsoft.com/office/drawing/2014/main" id="{A44E462D-7328-2FEF-F688-BEDFB67FCB5F}"/>
              </a:ext>
            </a:extLst>
          </p:cNvPr>
          <p:cNvSpPr>
            <a:spLocks noGrp="1"/>
          </p:cNvSpPr>
          <p:nvPr>
            <p:ph idx="1"/>
          </p:nvPr>
        </p:nvSpPr>
        <p:spPr/>
        <p:txBody>
          <a:bodyPr>
            <a:normAutofit/>
          </a:bodyPr>
          <a:lstStyle/>
          <a:p>
            <a:r>
              <a:rPr lang="en-US" sz="2400" dirty="0"/>
              <a:t>Definition: A variable with a static lifetime has the same lifetime as the program itself. These variables are initialized only once when the program starts and retain their values throughout the execution of the program. </a:t>
            </a:r>
          </a:p>
          <a:p>
            <a:r>
              <a:rPr lang="en-US" sz="2400" dirty="0"/>
              <a:t>Memory allocation: Statically allocated variables reside in the data segment or the .data section in memory, which is read-only for most modern operating systems. This means that static variables have a fixed address during the runtime. </a:t>
            </a:r>
          </a:p>
        </p:txBody>
      </p:sp>
    </p:spTree>
    <p:extLst>
      <p:ext uri="{BB962C8B-B14F-4D97-AF65-F5344CB8AC3E}">
        <p14:creationId xmlns:p14="http://schemas.microsoft.com/office/powerpoint/2010/main" val="4361288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9E3530-1F73-0EF8-F160-45D4EDE876D7}"/>
              </a:ext>
            </a:extLst>
          </p:cNvPr>
          <p:cNvSpPr>
            <a:spLocks noGrp="1"/>
          </p:cNvSpPr>
          <p:nvPr>
            <p:ph idx="1"/>
          </p:nvPr>
        </p:nvSpPr>
        <p:spPr/>
        <p:txBody>
          <a:bodyPr>
            <a:normAutofit/>
          </a:bodyPr>
          <a:lstStyle/>
          <a:p>
            <a:r>
              <a:rPr lang="en-US" sz="2400" dirty="0"/>
              <a:t>Examples: In C and C++, you can declare a variable as `static` inside a function to give it static lifetime. </a:t>
            </a:r>
          </a:p>
          <a:p>
            <a:r>
              <a:rPr lang="en-US" sz="2400" dirty="0"/>
              <a:t>Importance: Static variables are useful when you want to maintain data between multiple calls of a function or between different invocations of your program. </a:t>
            </a:r>
            <a:endParaRPr lang="en-IN" sz="2400" dirty="0"/>
          </a:p>
        </p:txBody>
      </p:sp>
    </p:spTree>
    <p:extLst>
      <p:ext uri="{BB962C8B-B14F-4D97-AF65-F5344CB8AC3E}">
        <p14:creationId xmlns:p14="http://schemas.microsoft.com/office/powerpoint/2010/main" val="2465055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0EB5-CB47-F68F-7C45-038A99E0B2B0}"/>
              </a:ext>
            </a:extLst>
          </p:cNvPr>
          <p:cNvSpPr>
            <a:spLocks noGrp="1"/>
          </p:cNvSpPr>
          <p:nvPr>
            <p:ph type="title"/>
          </p:nvPr>
        </p:nvSpPr>
        <p:spPr/>
        <p:txBody>
          <a:bodyPr>
            <a:normAutofit/>
          </a:bodyPr>
          <a:lstStyle/>
          <a:p>
            <a:r>
              <a:rPr lang="en-IN" sz="4000" dirty="0"/>
              <a:t>Dynamic Lifetime (Automatic) </a:t>
            </a:r>
          </a:p>
        </p:txBody>
      </p:sp>
      <p:sp>
        <p:nvSpPr>
          <p:cNvPr id="3" name="Content Placeholder 2">
            <a:extLst>
              <a:ext uri="{FF2B5EF4-FFF2-40B4-BE49-F238E27FC236}">
                <a16:creationId xmlns:a16="http://schemas.microsoft.com/office/drawing/2014/main" id="{635B0C26-6227-41B9-511B-B159169C62B3}"/>
              </a:ext>
            </a:extLst>
          </p:cNvPr>
          <p:cNvSpPr>
            <a:spLocks noGrp="1"/>
          </p:cNvSpPr>
          <p:nvPr>
            <p:ph idx="1"/>
          </p:nvPr>
        </p:nvSpPr>
        <p:spPr/>
        <p:txBody>
          <a:bodyPr>
            <a:normAutofit/>
          </a:bodyPr>
          <a:lstStyle/>
          <a:p>
            <a:r>
              <a:rPr lang="en-US" sz="2400" dirty="0"/>
              <a:t>Definition: A variable with dynamic lifetime, also known as automatic lifetime, exists only during the execution of the block in which it is declared and is automatically deallocated when that block exits. This is the default behavior for most local variables. </a:t>
            </a:r>
          </a:p>
          <a:p>
            <a:r>
              <a:rPr lang="en-US" sz="2400" dirty="0"/>
              <a:t>Memory allocation: Dynamic variables are allocated on the stack, meaning they have a changing address during runtime based on the call stack depth. </a:t>
            </a:r>
          </a:p>
        </p:txBody>
      </p:sp>
    </p:spTree>
    <p:extLst>
      <p:ext uri="{BB962C8B-B14F-4D97-AF65-F5344CB8AC3E}">
        <p14:creationId xmlns:p14="http://schemas.microsoft.com/office/powerpoint/2010/main" val="17954232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AA9E4A-B3A4-3588-DD87-42F9E1DDE2A5}"/>
              </a:ext>
            </a:extLst>
          </p:cNvPr>
          <p:cNvSpPr>
            <a:spLocks noGrp="1"/>
          </p:cNvSpPr>
          <p:nvPr>
            <p:ph idx="1"/>
          </p:nvPr>
        </p:nvSpPr>
        <p:spPr/>
        <p:txBody>
          <a:bodyPr>
            <a:normAutofit/>
          </a:bodyPr>
          <a:lstStyle/>
          <a:p>
            <a:r>
              <a:rPr lang="en-US" sz="2400" dirty="0"/>
              <a:t>Examples: In C and C++, regular local variables have dynamic lifetime by default. </a:t>
            </a:r>
          </a:p>
          <a:p>
            <a:r>
              <a:rPr lang="en-US" sz="2400" dirty="0"/>
              <a:t>Importance: Dynamic variables are useful for storing data that is only needed within a specific block of code or when the size of the data is not known beforehand. </a:t>
            </a:r>
            <a:endParaRPr lang="en-IN" sz="2400" dirty="0"/>
          </a:p>
        </p:txBody>
      </p:sp>
    </p:spTree>
    <p:extLst>
      <p:ext uri="{BB962C8B-B14F-4D97-AF65-F5344CB8AC3E}">
        <p14:creationId xmlns:p14="http://schemas.microsoft.com/office/powerpoint/2010/main" val="30965730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DFEF5-2B42-0A10-85CE-202B5CD784B0}"/>
              </a:ext>
            </a:extLst>
          </p:cNvPr>
          <p:cNvSpPr>
            <a:spLocks noGrp="1"/>
          </p:cNvSpPr>
          <p:nvPr>
            <p:ph type="title"/>
          </p:nvPr>
        </p:nvSpPr>
        <p:spPr/>
        <p:txBody>
          <a:bodyPr>
            <a:normAutofit/>
          </a:bodyPr>
          <a:lstStyle/>
          <a:p>
            <a:r>
              <a:rPr lang="en-US" sz="4000" dirty="0"/>
              <a:t>Lifetime in Blocks (Block Scope)</a:t>
            </a:r>
            <a:endParaRPr lang="en-IN" sz="4000" dirty="0"/>
          </a:p>
        </p:txBody>
      </p:sp>
      <p:sp>
        <p:nvSpPr>
          <p:cNvPr id="3" name="Content Placeholder 2">
            <a:extLst>
              <a:ext uri="{FF2B5EF4-FFF2-40B4-BE49-F238E27FC236}">
                <a16:creationId xmlns:a16="http://schemas.microsoft.com/office/drawing/2014/main" id="{2029EA3A-2819-F5F9-55C5-EC23303052D1}"/>
              </a:ext>
            </a:extLst>
          </p:cNvPr>
          <p:cNvSpPr>
            <a:spLocks noGrp="1"/>
          </p:cNvSpPr>
          <p:nvPr>
            <p:ph idx="1"/>
          </p:nvPr>
        </p:nvSpPr>
        <p:spPr/>
        <p:txBody>
          <a:bodyPr>
            <a:normAutofit/>
          </a:bodyPr>
          <a:lstStyle/>
          <a:p>
            <a:r>
              <a:rPr lang="en-US" sz="2400" dirty="0"/>
              <a:t>Definition: In modern compilers with support for block scoping, you can define and declare variables closer to where they are used. The lifetime of these variables is limited to the enclosing block or the smallest enclosing scope that contains the declaration. </a:t>
            </a:r>
          </a:p>
          <a:p>
            <a:r>
              <a:rPr lang="en-US" sz="2400" dirty="0"/>
              <a:t>Memory allocation: These variables reside on the stack or registers as per their block's allocation strategy. When the block exits, the variable goes out of scope and is deallocated automatically. </a:t>
            </a:r>
            <a:endParaRPr lang="en-IN" sz="2400" dirty="0"/>
          </a:p>
        </p:txBody>
      </p:sp>
    </p:spTree>
    <p:extLst>
      <p:ext uri="{BB962C8B-B14F-4D97-AF65-F5344CB8AC3E}">
        <p14:creationId xmlns:p14="http://schemas.microsoft.com/office/powerpoint/2010/main" val="1418790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A23DC-F54F-6748-D38A-19EC6569B60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B554C7F-1163-8153-798B-61098280DADF}"/>
              </a:ext>
            </a:extLst>
          </p:cNvPr>
          <p:cNvSpPr>
            <a:spLocks noGrp="1"/>
          </p:cNvSpPr>
          <p:nvPr>
            <p:ph idx="1"/>
          </p:nvPr>
        </p:nvSpPr>
        <p:spPr/>
        <p:txBody>
          <a:bodyPr>
            <a:normAutofit/>
          </a:bodyPr>
          <a:lstStyle/>
          <a:p>
            <a:r>
              <a:rPr lang="en-US" sz="2400" dirty="0"/>
              <a:t>Examples: In languages like JavaScript, Swift, Dart, etc., you can declare and define variables within blocks using keywords such as `let` (immutable) or `var` (mutable).</a:t>
            </a:r>
          </a:p>
          <a:p>
            <a:r>
              <a:rPr lang="en-US" sz="2400" dirty="0"/>
              <a:t>Importance: Block scoping helps reduce code complexity by limiting the scope of variables to smaller parts of your program, making it easier to understand and maintain.</a:t>
            </a:r>
            <a:endParaRPr lang="en-IN" sz="2400" dirty="0"/>
          </a:p>
        </p:txBody>
      </p:sp>
    </p:spTree>
    <p:extLst>
      <p:ext uri="{BB962C8B-B14F-4D97-AF65-F5344CB8AC3E}">
        <p14:creationId xmlns:p14="http://schemas.microsoft.com/office/powerpoint/2010/main" val="3824678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3CE14-0691-4750-BF26-F1042CD278E3}"/>
              </a:ext>
            </a:extLst>
          </p:cNvPr>
          <p:cNvSpPr>
            <a:spLocks noGrp="1"/>
          </p:cNvSpPr>
          <p:nvPr>
            <p:ph type="title"/>
          </p:nvPr>
        </p:nvSpPr>
        <p:spPr/>
        <p:txBody>
          <a:bodyPr>
            <a:normAutofit/>
          </a:bodyPr>
          <a:lstStyle/>
          <a:p>
            <a:r>
              <a:rPr lang="en-IN" sz="4000" dirty="0"/>
              <a:t>Lifetime Management Strategies</a:t>
            </a:r>
          </a:p>
        </p:txBody>
      </p:sp>
      <p:sp>
        <p:nvSpPr>
          <p:cNvPr id="3" name="Content Placeholder 2">
            <a:extLst>
              <a:ext uri="{FF2B5EF4-FFF2-40B4-BE49-F238E27FC236}">
                <a16:creationId xmlns:a16="http://schemas.microsoft.com/office/drawing/2014/main" id="{45A47438-68B1-3D8E-E18E-0C6CF9432972}"/>
              </a:ext>
            </a:extLst>
          </p:cNvPr>
          <p:cNvSpPr>
            <a:spLocks noGrp="1"/>
          </p:cNvSpPr>
          <p:nvPr>
            <p:ph idx="1"/>
          </p:nvPr>
        </p:nvSpPr>
        <p:spPr/>
        <p:txBody>
          <a:bodyPr>
            <a:noAutofit/>
          </a:bodyPr>
          <a:lstStyle/>
          <a:p>
            <a:r>
              <a:rPr lang="en-US" sz="2400" dirty="0"/>
              <a:t>Initialization: Properly initializing variables is crucial in managing their lifetimes effectively. In statically-typed languages, you can initialize a variable when you declare it, ensuring that its lifetime covers the entire program if needed. </a:t>
            </a:r>
          </a:p>
          <a:p>
            <a:r>
              <a:rPr lang="en-US" sz="2400" dirty="0"/>
              <a:t>Cleanup: For resources with non-trivial lifetimes or cleanup requirements (like files, network connections, or external devices), you should manage them using RAII (Resource Acquisition Is Initialization) or other similar mechanisms to ensure their proper lifetime management. </a:t>
            </a:r>
          </a:p>
        </p:txBody>
      </p:sp>
    </p:spTree>
    <p:extLst>
      <p:ext uri="{BB962C8B-B14F-4D97-AF65-F5344CB8AC3E}">
        <p14:creationId xmlns:p14="http://schemas.microsoft.com/office/powerpoint/2010/main" val="3452929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FF33B8-0960-E65C-CB60-E610477BFF7B}"/>
              </a:ext>
            </a:extLst>
          </p:cNvPr>
          <p:cNvSpPr>
            <a:spLocks noGrp="1"/>
          </p:cNvSpPr>
          <p:nvPr>
            <p:ph idx="1"/>
          </p:nvPr>
        </p:nvSpPr>
        <p:spPr/>
        <p:txBody>
          <a:bodyPr>
            <a:normAutofit/>
          </a:bodyPr>
          <a:lstStyle/>
          <a:p>
            <a:r>
              <a:rPr lang="en-US" sz="2400" dirty="0"/>
              <a:t>3. Automatic memory management: Modern languages like Python, Java, and C+ +11 provide automatic memory management through garbage collection or smart pointers, which makes managing the lifetime of dynamically-allocated resources easier and more efficient</a:t>
            </a:r>
            <a:r>
              <a:rPr lang="en-IN" sz="2400" dirty="0"/>
              <a:t>.</a:t>
            </a:r>
          </a:p>
        </p:txBody>
      </p:sp>
    </p:spTree>
    <p:extLst>
      <p:ext uri="{BB962C8B-B14F-4D97-AF65-F5344CB8AC3E}">
        <p14:creationId xmlns:p14="http://schemas.microsoft.com/office/powerpoint/2010/main" val="26616121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7F1483-5FFE-6202-3586-0FEE6AB351B4}"/>
              </a:ext>
            </a:extLst>
          </p:cNvPr>
          <p:cNvSpPr>
            <a:spLocks noGrp="1"/>
          </p:cNvSpPr>
          <p:nvPr>
            <p:ph idx="1"/>
          </p:nvPr>
        </p:nvSpPr>
        <p:spPr>
          <a:xfrm>
            <a:off x="2614863" y="2487749"/>
            <a:ext cx="6529137" cy="2806145"/>
          </a:xfrm>
        </p:spPr>
        <p:txBody>
          <a:bodyPr>
            <a:noAutofit/>
          </a:bodyPr>
          <a:lstStyle/>
          <a:p>
            <a:pPr marL="0" indent="0">
              <a:buNone/>
            </a:pPr>
            <a:r>
              <a:rPr lang="en-IN" sz="8000" dirty="0">
                <a:solidFill>
                  <a:srgbClr val="FFC000"/>
                </a:solidFill>
              </a:rPr>
              <a:t>THANK YOU</a:t>
            </a:r>
          </a:p>
        </p:txBody>
      </p:sp>
    </p:spTree>
    <p:extLst>
      <p:ext uri="{BB962C8B-B14F-4D97-AF65-F5344CB8AC3E}">
        <p14:creationId xmlns:p14="http://schemas.microsoft.com/office/powerpoint/2010/main" val="177347166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13</TotalTime>
  <Words>805</Words>
  <Application>Microsoft Office PowerPoint</Application>
  <PresentationFormat>Widescreen</PresentationFormat>
  <Paragraphs>37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Gill Sans MT</vt:lpstr>
      <vt:lpstr>Gallery</vt:lpstr>
      <vt:lpstr>scope and lifetime of variables</vt:lpstr>
      <vt:lpstr>GLOBAL SCOPE</vt:lpstr>
      <vt:lpstr>Local Scope</vt:lpstr>
      <vt:lpstr>Block Scope (Modern Compilers) </vt:lpstr>
      <vt:lpstr>PowerPoint Presentation</vt:lpstr>
      <vt:lpstr>Static Lifetime</vt:lpstr>
      <vt:lpstr>PowerPoint Presentation</vt:lpstr>
      <vt:lpstr>Dynamic Lifetime (Automatic) </vt:lpstr>
      <vt:lpstr>PowerPoint Presentation</vt:lpstr>
      <vt:lpstr>Lifetime in Blocks (Block Scope)</vt:lpstr>
      <vt:lpstr>PowerPoint Presentation</vt:lpstr>
      <vt:lpstr>Lifetime Management Strategies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scope and lifetime of variables</dc:title>
  <dc:creator>Basireddy Rohith reddy</dc:creator>
  <cp:lastModifiedBy>Mukesh SA</cp:lastModifiedBy>
  <cp:revision>3</cp:revision>
  <dcterms:created xsi:type="dcterms:W3CDTF">2024-05-01T15:22:23Z</dcterms:created>
  <dcterms:modified xsi:type="dcterms:W3CDTF">2024-07-03T17:49:34Z</dcterms:modified>
</cp:coreProperties>
</file>